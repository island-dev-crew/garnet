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01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9B1B30"/>
                </a:solidFill>
                <a:latin typeface="Calibri"/>
              </a:rPr>
              <a:t>GARNET v2.2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600" b="1" i="0">
                <a:solidFill>
                  <a:srgbClr val="F4ECE0"/>
                </a:solidFill>
                <a:latin typeface="Georgia"/>
              </a:rPr>
              <a:t>Garnet.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4ECE0"/>
                </a:solidFill>
                <a:latin typeface="Georgia"/>
              </a:rPr>
              <a:t>Safe by default. Fast when needed. Joyful always.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97680"/>
            <a:ext cx="18288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9A9086"/>
                </a:solidFill>
                <a:latin typeface="Calibri"/>
              </a:rPr>
              <a:t>A dual-mode, agent-native language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D4A04F"/>
                </a:solidFill>
                <a:latin typeface="Georgia"/>
              </a:rPr>
              <a:t>"Where there is no vision, the people perish."  —  Proverbs 29:18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4D46"/>
                </a:solidFill>
                <a:latin typeface="Calibri"/>
              </a:rPr>
              <a:t>Four-model consensus floor  ·  Claude Opus 4.6  ·  GPT-5.4 Pro  ·  Grok 4.2  ·  Gemini 3.1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01 / 50</a:t>
            </a:r>
          </a:p>
        </p:txBody>
      </p:sp>
      <p:sp>
        <p:nvSpPr>
          <p:cNvPr id="13" name="Oval 12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INTRO ·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The Unreconciled 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02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5486400" cy="3840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5352" y="2377440"/>
            <a:ext cx="5486400" cy="38404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7410E"/>
                </a:solidFill>
                <a:latin typeface="Calibri"/>
              </a:rPr>
              <a:t>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4ECE0"/>
                </a:solidFill>
                <a:latin typeface="Georgia"/>
              </a:rPr>
              <a:t>Unflinching safety.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9377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Memory safety without GC. Ownership, lifetimes, fearless concurrency. The compiler refuses to lie.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Cost: cognitive tax, no REPL, prototyping pain, DSL friction.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0115F"/>
                </a:solidFill>
                <a:latin typeface="Calibri"/>
              </a:rPr>
              <a:t>RUBY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971800"/>
            <a:ext cx="49377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4ECE0"/>
                </a:solidFill>
                <a:latin typeface="Georgia"/>
              </a:rPr>
              <a:t>Unbounded joy.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886200"/>
            <a:ext cx="493776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Developer happiness as first principle. Metaprogramming, blocks, DSLs, REPL-first. Code that breathes.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Cost: performance ceiling, GC pauses, weak concurrency.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D4A04F"/>
                </a:solidFill>
                <a:latin typeface="Georgia"/>
              </a:rPr>
              <a:t>The industry's forced choice  —  and Garnet's refusal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INTRO ·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The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A dual-mode, agent-native language platform that refuses the trade-off.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03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3576218" cy="329184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0275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9B1B30"/>
                </a:solidFill>
                <a:latin typeface="Calibri"/>
              </a:rPr>
              <a:t>MANAGED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027578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4ECE0"/>
                </a:solidFill>
                <a:latin typeface="Georgia"/>
              </a:rPr>
              <a:t>Ruby-like surface. ARC default. DSLs and REPL.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30275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D4A04F"/>
                </a:solidFill>
                <a:latin typeface="Georgia"/>
              </a:rPr>
              <a:t>The joy floor.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2743200"/>
            <a:ext cx="3576218" cy="329184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2926080"/>
            <a:ext cx="30275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7410E"/>
                </a:solidFill>
                <a:latin typeface="Calibri"/>
              </a:rPr>
              <a:t>@SAFE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383280"/>
            <a:ext cx="3027578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4ECE0"/>
                </a:solidFill>
                <a:latin typeface="Georgia"/>
              </a:rPr>
              <a:t>Ownership and borrowing. Zero-cost. No GC on hot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5349240"/>
            <a:ext cx="30275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D4A04F"/>
                </a:solidFill>
                <a:latin typeface="Georgia"/>
              </a:rPr>
              <a:t>The rigor ceiling.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2743200"/>
            <a:ext cx="3576218" cy="329184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2596" y="2926080"/>
            <a:ext cx="30275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0115F"/>
                </a:solidFill>
                <a:latin typeface="Calibri"/>
              </a:rPr>
              <a:t>AGENT-NATIVE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3383280"/>
            <a:ext cx="3027578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4ECE0"/>
                </a:solidFill>
                <a:latin typeface="Georgia"/>
              </a:rPr>
              <a:t>Memory primitives in the core. Typed actors. Harness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5349240"/>
            <a:ext cx="30275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D4A04F"/>
                </a:solidFill>
                <a:latin typeface="Georgia"/>
              </a:rPr>
              <a:t>The systems built atop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Rust's founding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04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Memory safety without garbage collection.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Mozilla's bet: prove that systems software can be safe at compile time, not at runtime.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The trinity.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Ownership. Borrowing. Lifetimes. Three rules that eliminate entire classes of bugs.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The cost paid up front.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Programmers carry the proof obligation. The compiler is the auditor.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Ownership and borrowing — the core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05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292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Every value has exactly one owner.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When the owner goes out of scope, the value is dropped.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Borrows are tracked: shared (&amp;T) or mutable (&amp;mut T), never both at once.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The result: no double-frees, no use-after-free, no data races — proved at compile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A1A24"/>
          </a:solidFill>
          <a:ln w="10160">
            <a:solidFill>
              <a:srgbClr val="E8B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// 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8B45B"/>
                </a:solidFill>
                <a:latin typeface="Consolas"/>
              </a:rPr>
              <a:t>fn main() {</a:t>
            </a:r>
          </a:p>
          <a:p>
            <a:pPr algn="l"/>
            <a:r>
              <a:rPr sz="1200" b="0" i="0">
                <a:solidFill>
                  <a:srgbClr val="E8B45B"/>
                </a:solidFill>
                <a:latin typeface="Consolas"/>
              </a:rPr>
              <a:t>    let s = String::from("hi");</a:t>
            </a:r>
          </a:p>
          <a:p>
            <a:pPr algn="l"/>
            <a:r>
              <a:rPr sz="1200" b="0" i="0">
                <a:solidFill>
                  <a:srgbClr val="E8B45B"/>
                </a:solidFill>
                <a:latin typeface="Consolas"/>
              </a:rPr>
              <a:t>    let r = &amp;s;            // shared borrow</a:t>
            </a:r>
          </a:p>
          <a:p>
            <a:pPr algn="l"/>
            <a:r>
              <a:rPr sz="1200" b="0" i="0">
                <a:solidFill>
                  <a:srgbClr val="E8B45B"/>
                </a:solidFill>
                <a:latin typeface="Consolas"/>
              </a:rPr>
              <a:t>    println!("{r}");</a:t>
            </a:r>
          </a:p>
          <a:p>
            <a:pPr algn="l"/>
            <a:r>
              <a:rPr sz="1200" b="0" i="0">
                <a:solidFill>
                  <a:srgbClr val="E8B45B"/>
                </a:solidFill>
                <a:latin typeface="Consolas"/>
              </a:rPr>
              <a:t>    // &amp;mut s here would error</a:t>
            </a:r>
          </a:p>
          <a:p>
            <a:pPr algn="l"/>
            <a:r>
              <a:rPr sz="1200" b="0" i="0">
                <a:solidFill>
                  <a:srgbClr val="E8B45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Lifetimes and the borrow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06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Lifetimes name the scope a reference is valid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borrow checker proves that no reference outlives its referent.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'a is not decoration — it is a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compiler verifies that the contract holds across every call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The famous error messages.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Frustrating to learn, formative once internalized: the compiler teaches systems thinking.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Zero-cost abstractions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07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Stroustrup's principle, finally honored.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What you don't use, you don't pay for. What you do use, you couldn't hand-code better.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Iterators compile to loops. Closures inline. Traits monomorphize.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high-level surface evaporates into machine code with no runtime tax.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This is why Rust shows up in kernels, browsers, and embedded.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Performance you can audit, expressivity you can 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Fearless 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08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Send and Sync as type-system guarantees.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Whether a value can cross threads — or be shared across them — is encoded in its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Data races are a compile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Not a lint. Not a runtime check. A type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The cost: async Rust is its own dialect.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Pin, Future, lifetimes-in-async — the boundary where Rust's elegance frays.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The cognitive 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09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Learning cliff, not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Most newcomers describe a wall around month two: ownership clicks or it doesn't.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Fight-the-compiler fatigue.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Even experts report friction on greenfield code. The proof obligation never relaxes.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Where the tax is worth it — and where it isn't.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Hot paths, kernels, infra: yes. Glue code, scripts, exploration: questionable.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Ecosystem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10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Cargo: the gold standard.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Build, test, doc, publish, lock — one tool, one workflow, one mental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crates.io.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 registry that other languages quietly envy. Versioning, semver,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Tooling maturity.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rustfmt, clippy, rust-analyzer. The IDE story is finally first-class.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Where Rust hurts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11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Prototyping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proof obligation is paid up front — even when you're still figuring out what you mean.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DSL expressiveness.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Macros help. They don't reach Ruby's surface fluency. They aren't supposed 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B7410E"/>
                </a:solidFill>
                <a:latin typeface="Calibri"/>
              </a:rPr>
              <a:t>REPL absence.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evcxr exists; it is not the workflow. Rust is compile-edit-debug, not converse-with-the-runtime.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RUST DEEP DIVE ·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Verdict — unmatched rigor, bounded joy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12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4ECE0"/>
                </a:solidFill>
                <a:latin typeface="Georgia"/>
              </a:rPr>
              <a:t>Rust is the rigor ceiling.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4ECE0"/>
                </a:solidFill>
                <a:latin typeface="Calibri"/>
              </a:rPr>
              <a:t>There is nothing else like it in production. The proof obligations it demands buy guarantees no other mainstream language can offer.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D4A04F"/>
                </a:solidFill>
                <a:latin typeface="Georgia"/>
              </a:rPr>
              <a:t>And it is not what most code wants to be written 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Ruby's founding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13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Developer happiness as first principle.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Matz: "I hope to see Ruby help every programmer in the world to be productive, and to enjoy programming."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Optimize for the human, not the machine.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Where Rust trusts the compiler, Ruby trusts the programmer's instinct.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Joy as a design axis.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Not a marketing word. A measurable property of a language's surface.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Everything is an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14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Including integers. Including nil. Including classes themselves.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There are no primitives, no escape hatches, no second-class citizens.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Metaprogramming as first-class.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define_method, method_missing, class_eval — the language is its own toolbox.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Open classes.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Reopen any class anywhere. Power and danger in the same hand.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Blocks, procs, lambdas — the expressiveness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15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2920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Blocks are the syntactic gift Ruby gave the world.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do...end and {...} are not afterthoughts — they are the substrate on which Rails, RSpec, Sinatra, and a generation of DSLs were built.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Procs and lambdas extend the gift to first-class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A1A24"/>
          </a:solidFill>
          <a:ln w="10160">
            <a:solidFill>
              <a:srgbClr val="E8B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# ruby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5212080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>[1, 2, 3].each do |n|</a:t>
            </a:r>
          </a:p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>  puts n * 2</a:t>
            </a:r>
          </a:p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>end</a:t>
            </a:r>
          </a:p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>double = -&gt;(x) { x * 2 }</a:t>
            </a:r>
          </a:p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>puts double.(21)  # =&gt;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DSLs — the joy compounding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16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Rails.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ActiveRecord, routes, migrations — every Rails idiom is a Ruby DSL underneath.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RSpec.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describe, it, expect.to — tests that read like specifications because they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Sinatra, Capistrano, Chef, Puppet, Vagrant, Homebrew.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Two decades of Ruby's gift to operators, testers, and infrastructure engineers.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REPL-first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17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irb is the language.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Not a debugger, not a side tool — the primary mode of exploration.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Type, see, refine.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Ruby rewards the conversational programmer. Hypothesis to confirmation in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This is a different model of work than Rust offers.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Both legitimate. Garnet wants both.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Where Ruby hurts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18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Performance ceiling.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MRI is fast enough for most web workloads — and a poor fit for hot paths, ML kernels, or systems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GC pauses.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Generational, incremental, improving — and still a tax that systems languages refuse to pay.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Concurrency 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GVL, threads-but-not-really, Ractors as recent answer. The story is incomplete.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Ecosystem and ethos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19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RubyGems and Bundler.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Predates Cargo. Set the template for a generation of package managers.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MINSWAN.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"Matz is nice, so we are nice." A community ethos as load-bearing as the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0115F"/>
                </a:solidFill>
                <a:latin typeface="Calibri"/>
              </a:rPr>
              <a:t>Compounding kindness.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Ruby's ecosystem is small now. Its influence on every modern language remains enormous.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RUBY DEEP DIVE ·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Verdict — unmatched joy, bounded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20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4ECE0"/>
                </a:solidFill>
                <a:latin typeface="Georgia"/>
              </a:rPr>
              <a:t>Ruby is the joy floor.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4ECE0"/>
                </a:solidFill>
                <a:latin typeface="Calibri"/>
              </a:rPr>
              <a:t>There is nothing else like it for surface fluency, exploratory rhythm, or DSL compounding. Two decades have not produced a true successor.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D4A04F"/>
                </a:solidFill>
                <a:latin typeface="Georgia"/>
              </a:rPr>
              <a:t>And it is not what most performance-critical code wants to be written 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The 34-dimension gap matrix —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21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Thirty-four axes of comparison.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Safety, expressiveness, concurrency, memory model, tooling, learning curve, ecosystem, deployment, REPL, DSL surface, error model — each scored 0–10.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Comparators.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Rust, Ruby, Swift, TypeScript, Crystal, Elixir, Mojo, Pony — eight points in the design 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 positioning matrix that names a vacancy: managed ergonomics with safe hot paths.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Safety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22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7410E"/>
                </a:solidFill>
                <a:latin typeface="Calibri"/>
              </a:rPr>
              <a:t>COMPILE-TIME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0115F"/>
                </a:solidFill>
                <a:latin typeface="Calibri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0292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RUST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Compile-time. Ownership-and-borrowing. Data races as type errors.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Cost: proof obligation paid by the human.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063240"/>
            <a:ext cx="50292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RUBY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Runtime. Exceptions as control flow. GC eliminates classes of bugs at a different price.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Cost: bugs found in production, not at compile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Expressiveness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23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0115F"/>
                </a:solidFill>
                <a:latin typeface="Calibri"/>
              </a:rPr>
              <a:t>SURFACE FLUENCY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7410E"/>
                </a:solidFill>
                <a:latin typeface="Calibri"/>
              </a:rPr>
              <a:t>SYSTEMS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0292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RUBY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Surface fluency. Blocks, metaprogramming, open classes, DSL compounding.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The programmer's intent reaches the reader unmediated.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063240"/>
            <a:ext cx="50292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RUST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Systems control. Macros, traits, monomorphization.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Expressivity is real but disciplined — and bounded by the type system.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Concurrency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24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Three traditions.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Shared-state with locks (Rust, Java). Actors with mailboxes (Erlang, Pony, Akka). Async with futures/tasks (Rust, JS, Python).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Each has a sound version and a folk 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sound versions require type-system support. The folk versions ship bugs.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Garnet's choice.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Typed actors as the default surface. Structured async underneath. Shared state only inside @safe.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Memory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25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ARC.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Swift's choice. Deterministic, compiler-inserted, no GC pauses. The managed-mode default for Garnet.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Ownership.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Rust's choice. Compile-time, zero runtime overhead, requires the proof obligation. Garnet's @safe default.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GC.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Ruby, Python, JVM. Throughput-friendly, pause-prone. Not Garnet's choice for either mode.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Tooling and ecosystem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26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Cargo set the bar.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Build, test, doc, lock, publish — one tool, one mental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Bundler set it earlier.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Ruby's ecosystem invented many of the patterns Cargo polished.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Garnet inherits both lessons.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garnet build, garnet test, garnet doc, garnet repl — first-class from rung 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GAP ANALYSIS · 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Garnet's target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Managed ergonomics with safe hot paths — a vacancy on the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27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6227064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rnet_positioning_matrix_v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6044184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040880" y="2423160"/>
            <a:ext cx="470916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260604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9B1B30"/>
                </a:solidFill>
                <a:latin typeface="Calibri"/>
              </a:rPr>
              <a:t>TARGET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971800"/>
            <a:ext cx="42976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Ruby-like surface fluency.</a:t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Rust-grade safety on the hot paths the harness identifies.</a:t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No mainstream language sits here today — and the four-model consensus says no incremental change to Rust or Ruby reaches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Swift as production precedent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28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ARC + actors + Sendable.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Apple has shipped a dual-discipline runtime to hundreds of millions of devices.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The proof of concept is already deployed.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Garnet does not invent the architecture — it generalizes it past the Apple silo.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What Swift does not 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Open ecosystem, Ruby-grade DSLs, agent-native memory primitives, harness layer.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Dual-mode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29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9B1B30"/>
                </a:solidFill>
                <a:latin typeface="Calibri"/>
              </a:rPr>
              <a:t>MANAGED MODE  · 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ARC. Ruby-like surface. Blocks, metaprogramming, REPL.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What you write when you don't yet know what you mean.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What most code stays as forever.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246888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6517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7410E"/>
                </a:solidFill>
                <a:latin typeface="Calibri"/>
              </a:rPr>
              <a:t>@SAFE MODE  ·  opt-in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108960"/>
            <a:ext cx="50292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Ownership and borrowing. No GC. Zero-cost abstractions.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Annotated on the functions, modules, or actors that need it.</a:t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F4ECE0"/>
                </a:solidFill>
                <a:latin typeface="Calibri"/>
              </a:rPr>
              <a:t>The harness identifies them; the programmer confirms.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Proposed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Language core · compiler/runtime · memory core · harness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30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9163" y="2377440"/>
            <a:ext cx="637336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rnet_architecture_v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603" y="2468880"/>
            <a:ext cx="619048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31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Managed mode — surface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31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A1A24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# garnet · managed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728655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actor Greeter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def initialize(@name : String); end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def greet(other)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  puts "hello #{other}, from #{@name}"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end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end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/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g = Greeter.spawn(name: "garnet")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g.greet("jon")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32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@safe mode — surface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32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A1A24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# garnet · @safe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728655" cy="3383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@safe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def hot_loop(buf: own Buffer) -&gt; own Buffer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let mut b = buf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for i in 0..b.len()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  b[i] = b[i] * 2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end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return b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33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Mode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33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Compile-time enforcement.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@safe boundaries are checked statically. Crossing them transfers ownership or borrows explicitly.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Runtime bridging.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ARC values entering @safe become owned. Owned values exiting @safe rejoin ARC. The bridge is typed.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No silent escape hatches.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Every crossing is named. Every name is checkable. The boundary is the thesis.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34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Affine type theory + RustBelt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34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Affine, not linear.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Values may be used at most once. Drop is allowed. Linear types forbid drop; affine allows it. @safe lives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RustBelt / Iris / Coq.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same machinery that proved Rust sound proves λ_safe sound. Garnet inherits the floor.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Mode boundary as a typed judgment.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Not folklore — a calculus with progress and preservation. Paper V is the artifact. (Gemini contribution.)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SYNTHESIS ·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TurboQuant — runtime signal, not language guarantee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35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Where it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Compiler/runtime layer. Optional codegen hint. Profiled, not promised.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Where it does not 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language core. No surface keyword. No type-system commitment. (Four-model consensus point 8.)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Why the boundary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Performance ideas come and go. The language must not be hostage to any of them.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36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One Memory Core, many harnesses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36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The definitive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Every agent in a Garnet system reads from and writes to a shared Memory 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Harnesses are domain experiences.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Different surfaces, different policies, different UIs — all sitting atop the same substrate.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Memory is the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Not a feature. Not a library. The thing the language is for.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37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Four memory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Working · episodic · semantic · procedural.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37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03423" y="2377440"/>
            <a:ext cx="6784848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mory_types_v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863" y="2468880"/>
            <a:ext cx="660196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38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First-class memory primitives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38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Memory units are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Typed. Owned where they need to be. ARC-managed where they don't.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The four kinds are language-level.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working, episodic, semantic, procedural — surface keywords, not library imports.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Why this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compiler can reason about retention, ranking, and decay. Libraries cannot.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Memory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39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CRUD for memory units.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Create, read, update, delete — typed, transactional, audited.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Lifecycle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TTL, summarization triggers, privacy redaction, retention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Retrieval ranking.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Workflow and semantic retrieval, scored against the harness's request.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40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Relevance + Recency +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OQ-7. The decay formula.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40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524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10637215" cy="1371600"/>
          </a:xfrm>
          <a:prstGeom prst="roundRect">
            <a:avLst>
              <a:gd name="adj" fmla="val 8000"/>
            </a:avLst>
          </a:prstGeom>
          <a:solidFill>
            <a:srgbClr val="1A1A24"/>
          </a:solidFill>
          <a:ln w="10160">
            <a:solidFill>
              <a:srgbClr val="E8B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1018001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score(m, q, t) = α · relevance(m, q)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               + β · recency(m, t)</a:t>
            </a:r>
          </a:p>
          <a:p>
            <a:pPr algn="l"/>
            <a:r>
              <a:rPr sz="1400" b="0" i="0">
                <a:solidFill>
                  <a:srgbClr val="E8B45B"/>
                </a:solidFill>
                <a:latin typeface="Consolas"/>
              </a:rPr>
              <a:t>                 + γ · importance(m)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37215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α, β, γ are tunable per harness. Recency decays with a configurable half-life. Importance is set at write time and decays slower.</a:t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formula is a starting point — Paper V grounds it as a typed-resource decay over an affine memory store.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41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Typed actors + compiler-enforced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41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Actors are the concurrency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Each owns its state. Communication is by typed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Protocols are types.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 channel's type names the legal sequence of messages. The compiler enforces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Session-typed channels.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Borrowed from the formal-methods literature; shipped in a language meant for production.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MEMORY ENGINEERING · 42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Multi-agent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42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OQ-8.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When N agents share one Memory Core, what consistency model holds?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The conservative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Sequential consistency at the Memory Manager boundary. Agents see writes in a global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The Paper V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 typed-actor protocol over the Memory Core that proves non-interference. (Gemini contribution.)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CONSENSUS · 43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Four frontier systems converged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Claude Opus 4.6  ·  GPT-5.4 Pro  ·  Grok 4.2  ·  Gemini 3.1 Pro Deep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43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Dual-mode is necessary.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The Rust/Ruby tension cannot be resolved by either pole.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2243" y="260604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03" y="26974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297180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Swift is the precedent.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03" y="356616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ARC + actors + Sendable is the working production template.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60604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6974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97180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Affine, not linear.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56616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@safe lives in affine type theory; managed lives in ARC.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331" y="260604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491" y="26974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491" y="297180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Memory is core, not lib.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491" y="356616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Working / episodic / semantic / procedural are language-level.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7200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634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3776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Typed actors as default.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53212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Concurrency story belongs in the type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2243" y="457200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9403" y="46634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03" y="493776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Engineering ladder beats prototype.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9403" y="553212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Six rungs, not one demo.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7287" y="457200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447" y="46634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47" y="493776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Mode boundary needs a calculus.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447" y="553212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Paper V is the artifact that grounds 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331" y="4572000"/>
            <a:ext cx="2682163" cy="178308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016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491" y="46634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4A04F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491" y="4937760"/>
            <a:ext cx="2407843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4ECE0"/>
                </a:solidFill>
                <a:latin typeface="Georgia"/>
              </a:rPr>
              <a:t>TurboQuant is runtime, not language.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491" y="5532120"/>
            <a:ext cx="2407843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A9086"/>
                </a:solidFill>
                <a:latin typeface="Calibri"/>
              </a:rPr>
              <a:t>Performance ideas live below the surface.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CONSENSUS · 44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Adjudicated divergences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44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1277295" cy="11430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B7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4ECE0"/>
                </a:solidFill>
                <a:latin typeface="Georgia"/>
              </a:rPr>
              <a:t>TurboQuant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106372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A9086"/>
                </a:solidFill>
                <a:latin typeface="Calibri"/>
              </a:rPr>
              <a:t>Three models proposed surface keywords. Consensus: runtime layer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11277295" cy="11430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E01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50791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4ECE0"/>
                </a:solidFill>
                <a:latin typeface="Georgia"/>
              </a:rPr>
              <a:t>'Proposed' vs 'first'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106372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A9086"/>
                </a:solidFill>
                <a:latin typeface="Calibri"/>
              </a:rPr>
              <a:t>Some drafts called Garnet "the first dual-mode language." Adjudicated to "proposed" — Swift exists.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66360"/>
            <a:ext cx="11277295" cy="114300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309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4ECE0"/>
                </a:solidFill>
                <a:latin typeface="Georgia"/>
              </a:rPr>
              <a:t>Engineering ladder vs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6372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A9086"/>
                </a:solidFill>
                <a:latin typeface="Calibri"/>
              </a:rPr>
              <a:t>One model favored a single demo. Consensus: six rungs, traceable, falsifiable.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D4A04F"/>
                </a:solidFill>
                <a:latin typeface="Georgia"/>
              </a:rPr>
              <a:t>"In the multitude of counsellors there is safety." — Proverbs 11:14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ENGINEERING LADDER · 45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Six rungs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Mini-Spec → Parser → Interpreter+REPL → Safe Lowering → Memory Core → Harness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45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762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1635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4ECE0"/>
                </a:solidFill>
                <a:latin typeface="Georgia"/>
              </a:rPr>
              <a:t>Mini-Spec v0.2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2816352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9B1B30"/>
                </a:solidFill>
                <a:latin typeface="Calibri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55848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7620">
            <a:solidFill>
              <a:srgbClr val="E8B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8B45B"/>
                </a:solidFill>
                <a:latin typeface="Calibri"/>
              </a:rP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4ECE0"/>
                </a:solidFill>
                <a:latin typeface="Georgia"/>
              </a:rPr>
              <a:t>garnet-parser crate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5695" y="34747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E8B45B"/>
                </a:solidFill>
                <a:latin typeface="Calibri"/>
              </a:rPr>
              <a:t>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14215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7620">
            <a:solidFill>
              <a:srgbClr val="9A9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33087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A9086"/>
                </a:solidFill>
                <a:latin typeface="Calibri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33087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4ECE0"/>
                </a:solidFill>
                <a:latin typeface="Georgia"/>
              </a:rPr>
              <a:t>Managed interpreter + REPL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695" y="4133087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9A9086"/>
                </a:solidFill>
                <a:latin typeface="Calibri"/>
              </a:rPr>
              <a:t>queued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72583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7620">
            <a:solidFill>
              <a:srgbClr val="9A9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91455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A9086"/>
                </a:solidFill>
                <a:latin typeface="Calibri"/>
              </a:rPr>
              <a:t>R4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91455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4ECE0"/>
                </a:solidFill>
                <a:latin typeface="Georgia"/>
              </a:rPr>
              <a:t>@safe lowering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695" y="4791455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9A9086"/>
                </a:solidFill>
                <a:latin typeface="Calibri"/>
              </a:rPr>
              <a:t>queued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30951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7620">
            <a:solidFill>
              <a:srgbClr val="9A9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49823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A9086"/>
                </a:solidFill>
                <a:latin typeface="Calibri"/>
              </a:rPr>
              <a:t>R5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49823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4ECE0"/>
                </a:solidFill>
                <a:latin typeface="Georgia"/>
              </a:rPr>
              <a:t>Memory Core + Manager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5449823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9A9086"/>
                </a:solidFill>
                <a:latin typeface="Calibri"/>
              </a:rPr>
              <a:t>queued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89319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7620">
            <a:solidFill>
              <a:srgbClr val="9A9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108191"/>
            <a:ext cx="640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A9086"/>
                </a:solidFill>
                <a:latin typeface="Calibri"/>
              </a:rPr>
              <a:t>R6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108191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4ECE0"/>
                </a:solidFill>
                <a:latin typeface="Georgia"/>
              </a:rPr>
              <a:t>Harness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695" y="6108191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9A9086"/>
                </a:solidFill>
                <a:latin typeface="Calibri"/>
              </a:rPr>
              <a:t>queued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ENGINEERING LADDER · 46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Rung 1 complete — Mini-Spec v0.2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46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§3.1 affine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@safe sub-calculus, formally framed for Paper V's grounding.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§5 RLM guardrails.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Recursive language model recursion bounds, normative not optional.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OQ-7 and OQ-8.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Decay formula and multi-agent consistency questions, posed and partially answered.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ENGINEERING LADDER · 47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Rung 2 next — garnet-parser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47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Target sections.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§2.1 managed surface, §4.1 @safe surface, §5.1–5.3 typed actors.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Crate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logos lexer, recursive-descent parser, miette diagnostics, insta snapshot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9B1B30"/>
                </a:solidFill>
                <a:latin typeface="Calibri"/>
              </a:rPr>
              <a:t>Acceptance.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cargo test green; three example .garnet files round-trip through parse → AST.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MARKET · 48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Dev tools market — the window is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A9086"/>
                </a:solidFill>
                <a:latin typeface="Calibri"/>
              </a:rPr>
              <a:t>$6.41B (2025) → $7.44B (2026) → $15.72B (2031)  ·  16.12% CAGR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48 / 50</a:t>
            </a:r>
          </a:p>
        </p:txBody>
      </p:sp>
      <p:sp>
        <p:nvSpPr>
          <p:cNvPr id="8" name="Oval 7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742432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v_tools_market_growth_v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4600"/>
            <a:ext cx="5559552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0" y="2423160"/>
            <a:ext cx="5166360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270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60604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9B1B30"/>
                </a:solidFill>
                <a:latin typeface="Calibri"/>
              </a:rPr>
              <a:t>WHY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71800"/>
            <a:ext cx="475488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Agent-native systems are crossing from research to revenue.</a:t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The harness layer is unbuilt. The language for it does not yet exist.</a:t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F4ECE0"/>
                </a:solidFill>
                <a:latin typeface="Calibri"/>
              </a:rPr>
              <a:t>Garnet's window is the next 18 months — before the incumbents ossify around inadequate substrates.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B1B30"/>
                </a:solidFill>
                <a:latin typeface="Calibri"/>
              </a:rPr>
              <a:t>CLOSE · 49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54864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4ECE0"/>
                </a:solidFill>
                <a:latin typeface="Georgia"/>
              </a:rPr>
              <a:t>The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49 / 50</a:t>
            </a:r>
          </a:p>
        </p:txBody>
      </p:sp>
      <p:sp>
        <p:nvSpPr>
          <p:cNvPr id="7" name="Oval 6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3931920"/>
          </a:xfrm>
          <a:prstGeom prst="roundRect">
            <a:avLst>
              <a:gd name="adj" fmla="val 8000"/>
            </a:avLst>
          </a:prstGeom>
          <a:solidFill>
            <a:srgbClr val="14141C"/>
          </a:solidFill>
          <a:ln w="19050">
            <a:solidFill>
              <a:srgbClr val="9B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4ECE0"/>
                </a:solidFill>
                <a:latin typeface="Georgia"/>
              </a:rPr>
              <a:t>Builders. Researchers. Believers.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37215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4ECE0"/>
                </a:solidFill>
                <a:latin typeface="Calibri"/>
              </a:rPr>
              <a:t>The harness is open. The Mini-Spec is in the corpus. The four-model consensus is bedrock. The engineering ladder is climbable.</a:t>
            </a:r>
          </a:p>
          <a:p>
            <a:pPr algn="l"/>
            <a:r>
              <a:rPr sz="1500" b="0" i="0">
                <a:solidFill>
                  <a:srgbClr val="F4ECE0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F4ECE0"/>
                </a:solidFill>
                <a:latin typeface="Calibri"/>
              </a:rPr>
              <a:t>What we need next is the next rung.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106372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E8B45B"/>
                </a:solidFill>
                <a:latin typeface="Consolas"/>
              </a:rPr>
              <a:t>garnet-lang.org  ·  Paper V (forthcoming)  ·  github.com/garnet-lang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01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9B1B30"/>
                </a:solidFill>
                <a:latin typeface="Calibri"/>
              </a:rPr>
              <a:t>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1" i="0">
                <a:solidFill>
                  <a:srgbClr val="F4ECE0"/>
                </a:solidFill>
                <a:latin typeface="Georgia"/>
              </a:rPr>
              <a:t>"Where there is no vision,</a:t>
            </a:r>
          </a:p>
          <a:p>
            <a:pPr algn="l"/>
            <a:r>
              <a:rPr sz="5200" b="1" i="0">
                <a:solidFill>
                  <a:srgbClr val="F4ECE0"/>
                </a:solidFill>
                <a:latin typeface="Georgia"/>
              </a:rPr>
              <a:t>the people perish."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D4A04F"/>
                </a:solidFill>
                <a:latin typeface="Georgia"/>
              </a:rPr>
              <a:t>— Proverbs 29:18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1828800" cy="36576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4ECE0"/>
                </a:solidFill>
                <a:latin typeface="Georgia"/>
              </a:rPr>
              <a:t>Garnet.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9A9086"/>
                </a:solidFill>
                <a:latin typeface="Calibri"/>
              </a:rPr>
              <a:t>Safe by default.  Fast when needed.  Joyful always.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1005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A9086"/>
                </a:solidFill>
                <a:latin typeface="Calibri"/>
              </a:rPr>
              <a:t>50 / 50</a:t>
            </a:r>
          </a:p>
        </p:txBody>
      </p:sp>
      <p:sp>
        <p:nvSpPr>
          <p:cNvPr id="12" name="Oval 11"/>
          <p:cNvSpPr/>
          <p:nvPr/>
        </p:nvSpPr>
        <p:spPr>
          <a:xfrm>
            <a:off x="11734495" y="6473952"/>
            <a:ext cx="73152" cy="73152"/>
          </a:xfrm>
          <a:prstGeom prst="ellipse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