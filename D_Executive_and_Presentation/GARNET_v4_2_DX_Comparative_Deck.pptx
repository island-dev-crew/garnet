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3A3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Garnet v4.2 — DX Comparative Deck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 Development Crew — MIT Submission Package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spc="1200" kern="0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GARNET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5029200" y="3749040"/>
            <a:ext cx="2103120" cy="54864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C8C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 Rigor. Ruby Velocity. One Coherent Language.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6692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7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Developer-Experience Study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01675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7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Submission Package — v4.2 —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Pillars, One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749040" cy="4754880"/>
          </a:xfrm>
          <a:prstGeom prst="rect">
            <a:avLst/>
          </a:prstGeom>
          <a:solidFill>
            <a:srgbClr val="121218"/>
          </a:solidFill>
          <a:ln w="19050">
            <a:solidFill>
              <a:srgbClr val="B741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400" kern="0" dirty="0">
                <a:solidFill>
                  <a:srgbClr val="B741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rigor. Memory correctness. Performance to the metal.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— cognitive load, ceremony, lifetimes-as-mental-stack.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06824" y="1371600"/>
            <a:ext cx="3749040" cy="4754880"/>
          </a:xfrm>
          <a:prstGeom prst="rect">
            <a:avLst/>
          </a:prstGeom>
          <a:solidFill>
            <a:srgbClr val="121218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81144" y="1600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400" kern="0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81144" y="228600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beauty. High velocity. Joyful to read, fast to write.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— ambient authority, runtime surprises, no compile-time safety net.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6448" y="1371600"/>
            <a:ext cx="3749040" cy="4754880"/>
          </a:xfrm>
          <a:prstGeom prst="rect">
            <a:avLst/>
          </a:prstGeom>
          <a:solidFill>
            <a:srgbClr val="121218"/>
          </a:solidFill>
          <a:ln w="19050">
            <a:solidFill>
              <a:srgbClr val="9C2B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30768" y="1600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400" kern="0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GARNET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430768" y="228600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Both, at once.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mode for velocity. Safe mode for rigor. Mode boundary auto-bridges errors and ownership.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memory primitives, signed hot-reload, agent-native from day one.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Shouldn't Have to Choose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team eventually picks: </a:t>
            </a:r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B741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 for the hot path</a:t>
            </a:r>
            <a:pPr algn="l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Ruby for the orchestration</a:t>
            </a:r>
            <a:pPr algn="l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writes a painful FFI between them. Or picks one language and swallows its weakness.</a:t>
            </a:r>
            <a:endParaRPr lang="en-US" sz="2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Garnet's dual-mode design makes the </a:t>
            </a:r>
            <a:pPr algn="l" indent="0" marL="0">
              <a:spcAft>
                <a:spcPts val="800"/>
              </a:spcAft>
              <a:buNone/>
            </a:pPr>
            <a:r>
              <a:rPr lang="en-US" sz="2200" b="1" i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source file</a:t>
            </a:r>
            <a:pPr algn="l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velocity-first at the top level and rigor-first in the safe modules — with no FFI in between.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5303520"/>
            <a:ext cx="731520" cy="45720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 boundary IS the reconciliation.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Hello, Function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logic. Three cognitive profiles.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" cy="347472"/>
          </a:xfrm>
          <a:prstGeom prst="rect">
            <a:avLst/>
          </a:prstGeom>
          <a:solidFill>
            <a:srgbClr val="B7410E"/>
          </a:solidFill>
          <a:ln w="12700">
            <a:solidFill>
              <a:srgbClr val="B741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greet(name: &amp;str)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format!(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"Hello, {}!", name)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6824" y="1417320"/>
            <a:ext cx="54864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06824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8264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"Hello, #{name}!"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56448" y="1417320"/>
            <a:ext cx="54864" cy="347472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6448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Managed — Ruby feel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"Hello, #{name}!"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Safe — Rust rigor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@safe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greet(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borrow name: String)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"Hello, #{name}!"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function. Garnet gives you either ergonomic — your choice, not the language's.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Handling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vs. exceptions vs. both, auto-bridged.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" cy="347472"/>
          </a:xfrm>
          <a:prstGeom prst="rect">
            <a:avLst/>
          </a:prstGeom>
          <a:solidFill>
            <a:srgbClr val="B7410E"/>
          </a:solidFill>
          <a:ln w="12700">
            <a:solidFill>
              <a:srgbClr val="B741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read_config(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path: &amp;Path)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Result&lt;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Config, io::Error&gt;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content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fs::read_to_string(path)?;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toml::from_str(&amp;content)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.map_err(convert_err)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6824" y="1417320"/>
            <a:ext cx="54864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06824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8264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read_config(path)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File.read(path)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TOML.parse(content)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rescue Errno::ENOENT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56448" y="1417320"/>
            <a:ext cx="54864" cy="347472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6448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@caps(fs)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read_config(path)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TOML.parse(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fs::read_file(path))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rescue e: FileNotFound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Rust: errors are values. Ruby: errors are exceptions. Garnet: the mode boundary auto-bridges both models — you pick what fits the function.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with Behavior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+ impl is the right shape — Garnet inherits it without the ceremony.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" cy="347472"/>
          </a:xfrm>
          <a:prstGeom prst="rect">
            <a:avLst/>
          </a:prstGeom>
          <a:solidFill>
            <a:srgbClr val="B7410E"/>
          </a:solidFill>
          <a:ln w="12700">
            <a:solidFill>
              <a:srgbClr val="B741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User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i64,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 User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fn greet(&amp;self)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format!(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"Hi {}", self.name)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6824" y="1417320"/>
            <a:ext cx="54864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06824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8264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attr_reader :id, :name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initialize(id, name)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@id, @name = id, 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greet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"Hi #{@name}"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56448" y="1417320"/>
            <a:ext cx="54864" cy="347472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6448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User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 id: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 User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greet(borrow self)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"Hi #{self.name}"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Rust. Same brevity as Ruby (no boilerplate initializer). The `def` keyword tells an LLM 'managed mode' — unambiguous at a glance.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Iterator Chains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+ blocks — both traditions in one language.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" cy="347472"/>
          </a:xfrm>
          <a:prstGeom prst="rect">
            <a:avLst/>
          </a:prstGeom>
          <a:solidFill>
            <a:srgbClr val="B7410E"/>
          </a:solidFill>
          <a:ln w="12700">
            <a:solidFill>
              <a:srgbClr val="B741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names: Vec&lt;String&gt;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.filter(|u| u.active)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.map(|u| u.name.clone())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.collect();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6824" y="1417320"/>
            <a:ext cx="54864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06824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8264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 = users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.select(&amp;:active)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.map(&amp;:name)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56448" y="1417320"/>
            <a:ext cx="54864" cy="347472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6448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Pipeline style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names = users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|&gt; filter(|u| u.active)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|&gt; map(|u| u.name)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Ruby block style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names = users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.filter do |u| u.active 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    do |u| u.name  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traditions available. The pipeline `|&gt;` makes data flow left-to-right — the way the mind already reads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Memory-Aware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Garnet has this at the language layer.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" cy="347472"/>
          </a:xfrm>
          <a:prstGeom prst="rect">
            <a:avLst/>
          </a:prstGeom>
          <a:solidFill>
            <a:srgbClr val="B7410E"/>
          </a:solidFill>
          <a:ln w="12700">
            <a:solidFill>
              <a:srgbClr val="B741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some_vector_db::*;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some_episodic_log::*;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EventLog&lt;Event&gt;,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facts: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VectorStore&lt;Fact&gt;,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...setup ceremony...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fn remember(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&amp;mut self, e: Event)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self.events.append(e);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6824" y="1417320"/>
            <a:ext cx="54864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06824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8264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initialize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@events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@facts  =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remember(e)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@events &lt;&lt; 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recall(q)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ad-hoc fuzzy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@facts.select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56448" y="1417320"/>
            <a:ext cx="54864" cy="347472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6448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memory episodic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events : EpisodeStore&lt;Event&gt;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memory semantic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facts  : VectorIndex&lt;Fact&gt;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protocol remember(e: Event)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Bool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protocol recall(q: String)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Array&lt;Fact&gt;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remember(e)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events.append(e);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recall(q)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facts.search(q, 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memory kinds — working, episodic, semantic, procedural — first-class keywords. The runtime picks the allocator. Paper VI Contribution 4.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Hot-Reload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orchestration without restarting the hot path.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" cy="347472"/>
          </a:xfrm>
          <a:prstGeom prst="rect">
            <a:avLst/>
          </a:prstGeom>
          <a:solidFill>
            <a:srgbClr val="B7410E"/>
          </a:solidFill>
          <a:ln w="12700">
            <a:solidFill>
              <a:srgbClr val="B741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language primitive.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Manual libloading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trait-object swap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careful state-transfer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ceremony.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Or: restart the process.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6824" y="1417320"/>
            <a:ext cx="54864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06824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8264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behavior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later...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behavior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"v2"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silently replaced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type check, 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state migration,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audit trail.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56448" y="1417320"/>
            <a:ext cx="54864" cy="347472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14173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6448" y="1828800"/>
            <a:ext cx="374904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901952"/>
            <a:ext cx="35661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Signed reload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(v3.5 ReloadKey)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addr.reload_signed(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target_version = 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&amp;signature,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|old|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Box::new(CounterV2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n: 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.downcast::&lt;i64&gt;()?,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label: "v2".into(),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Ed25519-signed reload. BLAKE3 schema fingerprint catches type mismatch. Zero message loss measured at 1000 cycles (Paper VI Exp 6).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LLM-Native Syntax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model generates correct Garnet faster than correct Rust.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297680"/>
          </a:xfrm>
          <a:prstGeom prst="rect">
            <a:avLst/>
          </a:prstGeom>
          <a:solidFill>
            <a:srgbClr val="121218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TRACKS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20116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declarations · type parameters · lifetime parameters · borrow semantics · which error type · whether `?` is callable here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83080" y="32004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method exist on this type (runtime) · is nil possible here (runtime) · is the File global thread-safe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343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43434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`@caps(fs)` — done. The rest of the function is scoped to filesystem authority.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54864" cy="347472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417320"/>
            <a:ext cx="5285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5394960" cy="388620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901952"/>
            <a:ext cx="521208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@caps(fs)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get_user_summary(path, 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data = JSON.parse(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fs::read_file(path))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user = data["users"][id]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"#{user.name}: #{user.email}"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VI Contribution 1. Phase 3G's 13-program conversion study gives an ≥80% pass@1 floor estimate — the deterministic patterns an LLM learns without ambiguity.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Is a Keyword, Not a Library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8C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can read the filesystem?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64792"/>
            <a:ext cx="3749040" cy="932688"/>
          </a:xfrm>
          <a:prstGeom prst="rect">
            <a:avLst/>
          </a:prstGeom>
          <a:solidFill>
            <a:srgbClr val="121218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64792"/>
            <a:ext cx="54864" cy="932688"/>
          </a:xfrm>
          <a:prstGeom prst="rect">
            <a:avLst/>
          </a:prstGeom>
          <a:solidFill>
            <a:srgbClr val="B7410E"/>
          </a:solidFill>
          <a:ln w="12700">
            <a:solidFill>
              <a:srgbClr val="B741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1051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</a:t>
            </a:r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Anyone who imports std::fs. No annotation required.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06824" y="1764792"/>
            <a:ext cx="3749040" cy="932688"/>
          </a:xfrm>
          <a:prstGeom prst="rect">
            <a:avLst/>
          </a:prstGeom>
          <a:solidFill>
            <a:srgbClr val="121218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06824" y="1764792"/>
            <a:ext cx="54864" cy="9326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81051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 </a:t>
            </a:r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Any file. No annotation possible.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56448" y="1764792"/>
            <a:ext cx="3749040" cy="932688"/>
          </a:xfrm>
          <a:prstGeom prst="rect">
            <a:avLst/>
          </a:prstGeom>
          <a:solidFill>
            <a:srgbClr val="121218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56448" y="1764792"/>
            <a:ext cx="54864" cy="932688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93608" y="181051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Garnet </a:t>
            </a:r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Only functions with @caps(fs). Enforced at compile time.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8C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can crash the actor?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3749040" cy="932688"/>
          </a:xfrm>
          <a:prstGeom prst="rect">
            <a:avLst/>
          </a:prstGeom>
          <a:solidFill>
            <a:srgbClr val="121218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36392"/>
            <a:ext cx="54864" cy="932688"/>
          </a:xfrm>
          <a:prstGeom prst="rect">
            <a:avLst/>
          </a:prstGeom>
          <a:solidFill>
            <a:srgbClr val="B7410E"/>
          </a:solidFill>
          <a:ln w="12700">
            <a:solidFill>
              <a:srgbClr val="B741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8211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</a:t>
            </a:r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Any sender — mpsc is unbounded by default.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06824" y="3136392"/>
            <a:ext cx="3749040" cy="932688"/>
          </a:xfrm>
          <a:prstGeom prst="rect">
            <a:avLst/>
          </a:prstGeom>
          <a:solidFill>
            <a:srgbClr val="121218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6824" y="3136392"/>
            <a:ext cx="54864" cy="9326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3984" y="318211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 </a:t>
            </a:r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Any call — GVL makes the receiver block everyone.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56448" y="3136392"/>
            <a:ext cx="3749040" cy="932688"/>
          </a:xfrm>
          <a:prstGeom prst="rect">
            <a:avLst/>
          </a:prstGeom>
          <a:solidFill>
            <a:srgbClr val="121218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6448" y="3136392"/>
            <a:ext cx="54864" cy="932688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318211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Garnet </a:t>
            </a:r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Sender gets SendError::Full at cap 1024 — BoundedMail.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8C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can hot-reload?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507992"/>
            <a:ext cx="3749040" cy="932688"/>
          </a:xfrm>
          <a:prstGeom prst="rect">
            <a:avLst/>
          </a:prstGeom>
          <a:solidFill>
            <a:srgbClr val="121218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507992"/>
            <a:ext cx="54864" cy="932688"/>
          </a:xfrm>
          <a:prstGeom prst="rect">
            <a:avLst/>
          </a:prstGeom>
          <a:solidFill>
            <a:srgbClr val="B7410E"/>
          </a:solidFill>
          <a:ln w="12700">
            <a:solidFill>
              <a:srgbClr val="B741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55371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</a:t>
            </a:r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Whoever has the binary.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06824" y="4507992"/>
            <a:ext cx="3749040" cy="932688"/>
          </a:xfrm>
          <a:prstGeom prst="rect">
            <a:avLst/>
          </a:prstGeom>
          <a:solidFill>
            <a:srgbClr val="121218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06824" y="4507992"/>
            <a:ext cx="54864" cy="9326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455371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 </a:t>
            </a:r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Whoever can write the monkey-patch.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56448" y="4507992"/>
            <a:ext cx="3749040" cy="932688"/>
          </a:xfrm>
          <a:prstGeom prst="rect">
            <a:avLst/>
          </a:prstGeom>
          <a:solidFill>
            <a:srgbClr val="121218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6448" y="4507992"/>
            <a:ext cx="54864" cy="932688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93608" y="455371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Garnet </a:t>
            </a:r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Whoever has the Ed25519 signing key for this actor.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security hardening layers. 136 security-specific tests. @sandbox default on converter output.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Reproducible Builds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749040" cy="4206240"/>
          </a:xfrm>
          <a:prstGeom prst="rect">
            <a:avLst/>
          </a:prstGeom>
          <a:solidFill>
            <a:srgbClr val="121218"/>
          </a:solidFill>
          <a:ln w="15240">
            <a:solidFill>
              <a:srgbClr val="B741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B741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with careful construction: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-C codegen-units=1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timestamps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locked deps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matching toolchains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property.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06824" y="1417320"/>
            <a:ext cx="3749040" cy="4206240"/>
          </a:xfrm>
          <a:prstGeom prst="rect">
            <a:avLst/>
          </a:prstGeom>
          <a:solidFill>
            <a:srgbClr val="121218"/>
          </a:solidFill>
          <a:ln w="1524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5424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35424" y="219456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design goal.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.rb + interpreter version + gems + load order ≠ stable output across runs.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6448" y="1417320"/>
            <a:ext cx="3749040" cy="4206240"/>
          </a:xfrm>
          <a:prstGeom prst="rect">
            <a:avLst/>
          </a:prstGeom>
          <a:solidFill>
            <a:srgbClr val="121218"/>
          </a:solidFill>
          <a:ln w="15240">
            <a:solidFill>
              <a:srgbClr val="9C2B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5048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GARNET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85048" y="219456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Language-level guarantee.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`garnet build --deterministic --sign` produces byte-identical manifest across machines.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Paper VI Exp 7: Machine A (Win11) + Machine B (WSL2) → identical source_hash, ast_hash, prelude_hash, dep_hashes.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VI Contribution 7. `garnet verify &lt;manifest&gt;` for any binary you downloaded.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 Incrementally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v4.1 converter ships — every output lands in @sandbox.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17320"/>
            <a:ext cx="5285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 — source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94960" cy="374904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01952"/>
            <a:ext cx="521208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parse_config(text)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text.split("\n").map do |line|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k, v = line.split("=", 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[k.strip, v.strip]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end.to_h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4864" cy="347472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417320"/>
            <a:ext cx="5285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GARNET — converter output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3749040"/>
          </a:xfrm>
          <a:prstGeom prst="rect">
            <a:avLst/>
          </a:prstGeom>
          <a:solidFill>
            <a:srgbClr val="18181B"/>
          </a:solidFill>
          <a:ln w="6350">
            <a:solidFill>
              <a:srgbClr val="3A3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01952"/>
            <a:ext cx="521208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@sandbox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@caps()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Config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parse_config(text)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out = {}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line in text.split("\n")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parts = line.split("=", 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out.insert(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parts[0].trim(),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parts[1].trim())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converter output starts @sandbox + @caps(). Human audit lifts the sandbox. Witness lineage maps every emitted node back to its source origin. 4 target languages: Rust · Ruby · Python · Go.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Mind Has a Place to Rest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749040" cy="4114800"/>
          </a:xfrm>
          <a:prstGeom prst="rect">
            <a:avLst/>
          </a:prstGeom>
          <a:solidFill>
            <a:srgbClr val="121218"/>
          </a:solidFill>
          <a:ln w="15240">
            <a:solidFill>
              <a:srgbClr val="B741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B741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  EXPERIENCE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line carries a budget.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this borrow?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lifetime?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error might propagate?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mind holds the whole type graph at once.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06824" y="1417320"/>
            <a:ext cx="3749040" cy="4114800"/>
          </a:xfrm>
          <a:prstGeom prst="rect">
            <a:avLst/>
          </a:prstGeom>
          <a:solidFill>
            <a:srgbClr val="121218"/>
          </a:solidFill>
          <a:ln w="1524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81144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RUBY  EXPERIENCE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81144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line reads like prose.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mind relaxes.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every `nil.method_call` becomes a 2 a.m. page.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6448" y="1417320"/>
            <a:ext cx="3749040" cy="4114800"/>
          </a:xfrm>
          <a:prstGeom prst="rect">
            <a:avLst/>
          </a:prstGeom>
          <a:solidFill>
            <a:srgbClr val="121218"/>
          </a:solidFill>
          <a:ln w="15240">
            <a:solidFill>
              <a:srgbClr val="9C2B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30768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GARNET  EXPERIENCE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30768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mode at top level — Ruby's rest.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mode at the hot path — Rust's rigor.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boundary is visible: `@safe` tells the mind which register to be in.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'Rust with less typing.' The goal is a language where both registers of thought have a home — and the transition between them is explicit.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Memory Kinds as Language Keywords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IV + Paper VI Contribution 4.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3796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Pattern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52560" y="1508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11247120" cy="777240"/>
          </a:xfrm>
          <a:prstGeom prst="rect">
            <a:avLst/>
          </a:prstGeom>
          <a:solidFill>
            <a:srgbClr val="121218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57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working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057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— bulk alloc, bulk free at scope exit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057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write, short-lived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52560" y="20574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scratchpad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11247120" cy="777240"/>
          </a:xfrm>
          <a:prstGeom prst="rect">
            <a:avLst/>
          </a:prstGeom>
          <a:solidFill>
            <a:srgbClr val="18181B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34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episodic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834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log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2834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write, range read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52560" y="28346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reasoning trace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11247120" cy="777240"/>
          </a:xfrm>
          <a:prstGeom prst="rect">
            <a:avLst/>
          </a:prstGeom>
          <a:solidFill>
            <a:srgbClr val="121218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semantic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3611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— structural sharing, COW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3611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Read-heavy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52560" y="36118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/ knowledge index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11247120" cy="777240"/>
          </a:xfrm>
          <a:prstGeom prst="rect">
            <a:avLst/>
          </a:prstGeom>
          <a:solidFill>
            <a:srgbClr val="18181B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389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procedural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4389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with version chain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4389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versioned mutation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52560" y="43891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workflows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peak RSS reduction measured on the multi-agent MVP (Paper VI Exp 4).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— Four Layers, 136 Tests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threat patterns addressed. 2 novel Garnet-specific classes closed.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850392"/>
          </a:xfrm>
          <a:prstGeom prst="rect">
            <a:avLst/>
          </a:prstGeom>
          <a:solidFill>
            <a:srgbClr val="121218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850392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 — v3.3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938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ParseBudget · KindGuard · StateCert · CacheHMAC · ProvenanceStrategy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0" y="1755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5C0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 tests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47120" cy="850392"/>
          </a:xfrm>
          <a:prstGeom prst="rect">
            <a:avLst/>
          </a:prstGeom>
          <a:solidFill>
            <a:srgbClr val="121218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14600"/>
            <a:ext cx="73152" cy="850392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24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 — v3.4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8986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CapCaps · NetDefaults · BoundedMail · ManifestSig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0" y="2715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5C0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 tests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11247120" cy="850392"/>
          </a:xfrm>
          <a:prstGeom prst="rect">
            <a:avLst/>
          </a:prstGeom>
          <a:solidFill>
            <a:srgbClr val="121218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74720"/>
            <a:ext cx="73152" cy="850392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 — v3.5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38587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ReloadKey · ModeAuditLog · FFIGeiger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0" y="36758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5C0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tests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11247120" cy="850392"/>
          </a:xfrm>
          <a:prstGeom prst="rect">
            <a:avLst/>
          </a:prstGeom>
          <a:solidFill>
            <a:srgbClr val="121218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434840"/>
            <a:ext cx="73152" cy="850392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544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4 — v4.0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48188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SandboxMode · EmbedRateLimit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0" y="4636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5C0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tests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novel Garnet-specific threat classes closed — strategy-miner adversarial training (ProvenanceStrategy), Box&lt;dyn Any&gt; hot-reload type confusion (StateCert). No prior art exists for either.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VI — Honest Scorecard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463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v4.0 Outcome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1247120" cy="530352"/>
          </a:xfrm>
          <a:prstGeom prst="rect">
            <a:avLst/>
          </a:prstGeom>
          <a:solidFill>
            <a:srgbClr val="121218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92840" y="2048256"/>
            <a:ext cx="274320" cy="274320"/>
          </a:xfrm>
          <a:prstGeom prst="ellipse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LLM-native syntax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pending-infra (~$500 API credits)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11247120" cy="530352"/>
          </a:xfrm>
          <a:prstGeom prst="rect">
            <a:avLst/>
          </a:prstGeom>
          <a:solidFill>
            <a:srgbClr val="18181B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92840" y="2578608"/>
            <a:ext cx="274320" cy="274320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5059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45059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type-disclosure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45059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(96.5% / 200 corpus)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80944"/>
            <a:ext cx="11247120" cy="530352"/>
          </a:xfrm>
          <a:prstGeom prst="rect">
            <a:avLst/>
          </a:prstGeom>
          <a:solidFill>
            <a:srgbClr val="121218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92840" y="3108960"/>
            <a:ext cx="274320" cy="27432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8094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298094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Compiler-as-agent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98094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(6.5% measured / 10% target)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11296"/>
            <a:ext cx="11247120" cy="530352"/>
          </a:xfrm>
          <a:prstGeom prst="rect">
            <a:avLst/>
          </a:prstGeom>
          <a:solidFill>
            <a:srgbClr val="18181B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92840" y="3639312"/>
            <a:ext cx="274320" cy="27432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51129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351129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Kind-aware allocation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51129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(RSS pass, latency deferred)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41648"/>
            <a:ext cx="11247120" cy="530352"/>
          </a:xfrm>
          <a:prstGeom prst="rect">
            <a:avLst/>
          </a:prstGeom>
          <a:solidFill>
            <a:srgbClr val="121218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92840" y="4169664"/>
            <a:ext cx="274320" cy="274320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4164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0160" y="404164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Error-model bridging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404164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(100/100 zero-loss)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11247120" cy="530352"/>
          </a:xfrm>
          <a:prstGeom prst="rect">
            <a:avLst/>
          </a:prstGeom>
          <a:solidFill>
            <a:srgbClr val="18181B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292840" y="4700016"/>
            <a:ext cx="274320" cy="274320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57200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80160" y="457200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 latency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457200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(3.8× p99, zero loss)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5102352"/>
            <a:ext cx="11247120" cy="530352"/>
          </a:xfrm>
          <a:prstGeom prst="rect">
            <a:avLst/>
          </a:prstGeom>
          <a:solidFill>
            <a:srgbClr val="121218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292840" y="5230368"/>
            <a:ext cx="274320" cy="274320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10235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80160" y="510235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builds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0" y="510235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cross-machine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supported · 2 partial (honestly downgraded in v4.0 revisions) · 0 refuted · 1 pending-infra. Pre-registered in Phase 1C; measured in Phase 4A.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Welcome Adversarial Reading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37160" cy="411480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819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V Addendum — Theorems A–H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928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soundness · NLL · borrow-check · Sendable · zero-cost monomorphization.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37160" cy="411480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VI Empirical Validation Protocol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243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Phase 1C. Compare predictions to v4.0 outcomes.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37160" cy="411480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449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v3.3 Slop Reverification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3558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gaps found in v3.2 — 'green ladder = genuine?' — all fixed.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137160" cy="411480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764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v3.3 Security Threat Model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0873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patterns · 2 novel Garnet-specific classes · full threat enumeration.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137160" cy="411480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07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3G GitHub Conversion Study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8188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programs across 4 languages · 0.93× expressiveness ratio stable.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303520"/>
            <a:ext cx="137160" cy="411480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2395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3H Refactor Discoveries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55504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7-cycle loop · stopped at first empty · 20 findings categorized.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handoff document in F_Project_Management/ is versioned and reproducible. No claim is hand-waved.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Migrate Incrementally, Not Big-Bang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Swift's ObjC migration model — one file at a time.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548640" cy="548640"/>
          </a:xfrm>
          <a:prstGeom prst="ellipse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source in original language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19659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· Ruby · Python · 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212848"/>
            <a:ext cx="0" cy="228600"/>
          </a:xfrm>
          <a:prstGeom prst="line">
            <a:avLst/>
          </a:prstGeom>
          <a:noFill/>
          <a:ln w="19050">
            <a:solidFill>
              <a:srgbClr val="3A3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41448"/>
            <a:ext cx="548640" cy="548640"/>
          </a:xfrm>
          <a:prstGeom prst="ellipse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FFI-call from Garnet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88720" y="2743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III §6 interop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990088"/>
            <a:ext cx="0" cy="228600"/>
          </a:xfrm>
          <a:prstGeom prst="line">
            <a:avLst/>
          </a:prstGeom>
          <a:noFill/>
          <a:ln w="19050">
            <a:solidFill>
              <a:srgbClr val="3A3A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18688"/>
            <a:ext cx="548640" cy="548640"/>
          </a:xfrm>
          <a:prstGeom prst="ellipse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18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32004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garnet convert &lt;file&gt;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88720" y="35204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lands in @sandbox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767328"/>
            <a:ext cx="0" cy="228600"/>
          </a:xfrm>
          <a:prstGeom prst="line">
            <a:avLst/>
          </a:prstGeom>
          <a:noFill/>
          <a:ln w="19050">
            <a:solidFill>
              <a:srgbClr val="3A3A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95928"/>
            <a:ext cx="548640" cy="548640"/>
          </a:xfrm>
          <a:prstGeom prst="ellipse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95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39776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audit lifts the sandbox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88720" y="42976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@sandbox → @sandbox(unquarantine) + @caps(...)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544568"/>
            <a:ext cx="0" cy="228600"/>
          </a:xfrm>
          <a:prstGeom prst="line">
            <a:avLst/>
          </a:prstGeom>
          <a:noFill/>
          <a:ln w="19050">
            <a:solidFill>
              <a:srgbClr val="3A3A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773168"/>
            <a:ext cx="548640" cy="548640"/>
          </a:xfrm>
          <a:prstGeom prst="ellipse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73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88720" y="47548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FFI with native Garnet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188720" y="5074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conversion progresses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is one tool in a kit that also includes FFI + Cargo-style tooling. The destination is the same; the pace is the developer's choice.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Reviewer's 15-Minute Quickstart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solidFill>
            <a:srgbClr val="121218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C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15544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D_Executive_and_Presentation/GARNET_v2_2_Executive_Overview.md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47120" cy="457200"/>
          </a:xfrm>
          <a:prstGeom prst="rect">
            <a:avLst/>
          </a:prstGeom>
          <a:solidFill>
            <a:srgbClr val="121218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C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21031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A_Research_Papers/GARNET-The-Reconciliation-of-Rust-and-Ruby.md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1247120" cy="457200"/>
          </a:xfrm>
          <a:prstGeom prst="rect">
            <a:avLst/>
          </a:prstGeom>
          <a:solidFill>
            <a:srgbClr val="121218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51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C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26517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C_Language_Specification/GARNET_v1_0_Mini_Spec.md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solidFill>
            <a:srgbClr val="121218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0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C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32004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cargo test -p garnet-actor-runtime --release --lib   # expect 17 pass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11247120" cy="457200"/>
          </a:xfrm>
          <a:prstGeom prst="rect">
            <a:avLst/>
          </a:prstGeom>
          <a:solidFill>
            <a:srgbClr val="121218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49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C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3749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cargo test -p garnet-stdlib --release                 # expect 74 pass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solidFill>
            <a:srgbClr val="121218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97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C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42976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cargo test -p garnet-convert --release                # expect 85 pass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solidFill>
            <a:srgbClr val="121218"/>
          </a:solidFill>
          <a:ln w="3810">
            <a:solidFill>
              <a:srgbClr val="3A3A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846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C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48463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F_Project_Management/GARNET_v4_0_PAPER_VI_EXECUTION.md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doesn't replicate, we want to know. Each claim cites the reproducer. The honest outcomes doc shows which two Paper VI predictions came in partial — no rescues.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Measure vs. What We Argue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tests defend correctness. The argument defends design. Category separation is itself rigor.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63540" cy="438912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50977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 —  what unit tests defend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56232"/>
            <a:ext cx="5463540" cy="3813048"/>
          </a:xfrm>
          <a:prstGeom prst="rect">
            <a:avLst/>
          </a:prstGeom>
          <a:solidFill>
            <a:srgbClr val="121218"/>
          </a:solidFill>
          <a:ln w="15240">
            <a:solidFill>
              <a:srgbClr val="9C2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39112"/>
            <a:ext cx="5006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C0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Expressiveness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313432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0.93× ratio across 13 programs × 4 source languages (Phase 3G)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752344"/>
            <a:ext cx="5006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C0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surface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026664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tests across 4 hardening layers (v3.3–v4.0)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465576"/>
            <a:ext cx="5006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C0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VI scorecard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739896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supported · 2 partial · 0 refuted · 1 pending-infra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178808"/>
            <a:ext cx="5006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C0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Cumulative tests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453128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1151 committed across stages 1–5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892040"/>
            <a:ext cx="5006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C0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Lint hygiene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516636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clippy clean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0780" y="1417320"/>
            <a:ext cx="5463540" cy="438912"/>
          </a:xfrm>
          <a:prstGeom prst="rect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3660" y="1417320"/>
            <a:ext cx="50977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ARGUED  —  what the design claim asserts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40780" y="1856232"/>
            <a:ext cx="5463540" cy="3813048"/>
          </a:xfrm>
          <a:prstGeom prst="rect">
            <a:avLst/>
          </a:prstGeom>
          <a:solidFill>
            <a:srgbClr val="121218"/>
          </a:solidFill>
          <a:ln w="15240">
            <a:solidFill>
              <a:srgbClr val="E5C0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9380" y="2039112"/>
            <a:ext cx="5006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5C0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Managed-mode feel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69380" y="2313432"/>
            <a:ext cx="5006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`def` is Ruby-like in ergonomics — joy is not a unit-testable property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69380" y="2825496"/>
            <a:ext cx="5006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5C0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Visible reconciliation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9380" y="3099816"/>
            <a:ext cx="5006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 boundary IS the argument — seen, not inferred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69380" y="3611880"/>
            <a:ext cx="5006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5C0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beacon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69380" y="3886200"/>
            <a:ext cx="5006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`@caps(fs)` front-loads authority; one token carries intent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69380" y="4398264"/>
            <a:ext cx="5006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5C0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Registers of thought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69380" y="4672584"/>
            <a:ext cx="5006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the mathematics and the conversation have a home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measure correctness; how do you measure joy?” — You don’t. The tests defend the correctness claim; the argument defends the design claim. Mixing the two categories is itself a category error.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“Where there is no vision, the people perish.”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272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Proverbs 29:18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4023360"/>
            <a:ext cx="2103120" cy="36576"/>
          </a:xfrm>
          <a:prstGeom prst="rect">
            <a:avLst/>
          </a:prstGeom>
          <a:solidFill>
            <a:srgbClr val="9C2B2E"/>
          </a:solidFill>
          <a:ln w="12700">
            <a:solidFill>
              <a:srgbClr val="9C2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2976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C8C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Garnet is a vision of the language both registers of thought deserve:</a:t>
            </a:r>
            <a:endParaRPr lang="en-US" sz="2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C8C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mathematics that must be right, and the conversation that wants to be read aloud.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— Island Development Crew — MIT Submission Package v4.2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Island Development Crew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Garnet v4.2 — DX Comparative Deck</dc:title>
  <dc:subject>MIT Submission Package — Developer-Experience Study</dc:subject>
  <dc:creator>Jon / Island Development Crew</dc:creator>
  <cp:lastModifiedBy>Jon / Island Development Crew</cp:lastModifiedBy>
  <cp:revision>1</cp:revision>
  <dcterms:created xsi:type="dcterms:W3CDTF">2026-04-17T14:46:18Z</dcterms:created>
  <dcterms:modified xsi:type="dcterms:W3CDTF">2026-04-17T14:46:18Z</dcterms:modified>
</cp:coreProperties>
</file>